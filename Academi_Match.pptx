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naming both audiences up front: students who don't know who to ask, professors who lack visibility. AcademiMatch is one conversational agent, not two separate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problems are symmetric: information exists somewhere, but there's no conversational front door to it. That symmetry is why one agent with two modes makes sense instead of two separate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real example queries from the spec — walk through one from each column if there's time for a live aside.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 specialist nodes plus the router = 19. This is the real topology from graph.py, grouped into 6 functional categories for readability — not a simplified cartoon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real case from the test_queries.json eval set — not a made-up example. It's the single clearest way to show the 60/40 weighting was a deliberate design choice, not a default.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every one of these maps directly to a must-have in the spec — this isn't feature creep, it's coverage.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Workload awareness is the detail that makes professor mode feel real instead of theoretical — it stops the agent from recommending an overloaded collaborator.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eval/run_eval.py before the presentation and swap the gold placeholder line for your real Top-1/Top-3 percentages — that single number does more for credibility than any other slide in this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this slide fast — it's a checklist, not a discussion point. Let the visual density do the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proves human-in-the-loop isn't decorative — the agent actually stops when told to. Demo the decline path live if you can; it's the more memorable of the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the unasked judge question: did they actually look at Elicit/Connected Papers/Research Rabbit like the brief said? Yes — and here's specifically what we kept and what we intentionally didn't build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 unless a judge asks a technical follow-up question — it's reference material more than a talking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reiterating that the roadmap items were deliberately deferred, not missed — that framing matters more than the list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4A6FA5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F2A541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MATCHING AGENT  ·  PROJECT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6459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AcademiMatch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conversational agent that connects students with the right faculty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guides, and helps professors explore research trends and collaboration.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24365C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4242816"/>
            <a:ext cx="429768" cy="429768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692" y="4294388"/>
            <a:ext cx="326624" cy="3266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41605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Mode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611880" y="4160520"/>
            <a:ext cx="2697480" cy="594360"/>
          </a:xfrm>
          <a:prstGeom prst="roundRect">
            <a:avLst>
              <a:gd name="adj" fmla="val 12308"/>
            </a:avLst>
          </a:prstGeom>
          <a:solidFill>
            <a:srgbClr val="24365C"/>
          </a:solidFill>
          <a:ln/>
        </p:spPr>
      </p:sp>
      <p:sp>
        <p:nvSpPr>
          <p:cNvPr id="12" name="Shape 9"/>
          <p:cNvSpPr/>
          <p:nvPr/>
        </p:nvSpPr>
        <p:spPr>
          <a:xfrm>
            <a:off x="3749040" y="4242816"/>
            <a:ext cx="429768" cy="429768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0612" y="4294388"/>
            <a:ext cx="326624" cy="326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43400" y="416052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Mode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46520" y="4160520"/>
            <a:ext cx="2697480" cy="594360"/>
          </a:xfrm>
          <a:prstGeom prst="roundRect">
            <a:avLst>
              <a:gd name="adj" fmla="val 12308"/>
            </a:avLst>
          </a:prstGeom>
          <a:solidFill>
            <a:srgbClr val="24365C"/>
          </a:solidFill>
          <a:ln/>
        </p:spPr>
      </p:sp>
      <p:sp>
        <p:nvSpPr>
          <p:cNvPr id="16" name="Shape 12"/>
          <p:cNvSpPr/>
          <p:nvPr/>
        </p:nvSpPr>
        <p:spPr>
          <a:xfrm>
            <a:off x="6583680" y="4242816"/>
            <a:ext cx="429768" cy="429768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5252" y="4294388"/>
            <a:ext cx="326624" cy="326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178040" y="41605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19-Node Agent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E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LangGraph  ·  ChromaDB RAG  ·  Tavily &amp; Semantic Scholar  ·  Terminal CLI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audiences, two unmet needs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27000" dist="38100" dir="5400000">
              <a:srgbClr val="1B2A4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731520" cy="731520"/>
          </a:xfrm>
          <a:prstGeom prst="ellipse">
            <a:avLst/>
          </a:prstGeom>
          <a:solidFill>
            <a:srgbClr val="EEF2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742" y="2008022"/>
            <a:ext cx="555955" cy="5559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89280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737360" y="231343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know who to ask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2971800"/>
            <a:ext cx="461772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3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easy way to discover which professor actually fits their interest area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3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out on relevant guides simply because they don't know the department landscape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3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 to translate a vague interest into a concrete project idea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09360" y="160020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27000" dist="38100" dir="5400000">
              <a:srgbClr val="1B2A4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29400" y="1920240"/>
            <a:ext cx="731520" cy="731520"/>
          </a:xfrm>
          <a:prstGeom prst="ellipse">
            <a:avLst/>
          </a:prstGeom>
          <a:solidFill>
            <a:srgbClr val="EEF2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7182" y="2008022"/>
            <a:ext cx="555955" cy="55595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43800" y="189280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Professors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7543800" y="231343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visibility &amp; connections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675120" y="2971800"/>
            <a:ext cx="461772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3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track what's trending in their field without manual literature review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3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potential collaborators whose work complements their own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33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quick way to see where department research coverage has gaps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agent, two conversational modes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chatbot detects intent from natural language and routes to the right mode — no menus, no commands.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F5F7FC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783080"/>
            <a:ext cx="5349240" cy="777240"/>
          </a:xfrm>
          <a:prstGeom prst="roundRect">
            <a:avLst>
              <a:gd name="adj" fmla="val 14118"/>
            </a:avLst>
          </a:prstGeom>
          <a:solidFill>
            <a:srgbClr val="1B2A4A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194560"/>
            <a:ext cx="534924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Shape 6"/>
          <p:cNvSpPr/>
          <p:nvPr/>
        </p:nvSpPr>
        <p:spPr>
          <a:xfrm>
            <a:off x="758952" y="1929384"/>
            <a:ext cx="502920" cy="502920"/>
          </a:xfrm>
          <a:prstGeom prst="ellipse">
            <a:avLst/>
          </a:prstGeom>
          <a:solidFill>
            <a:srgbClr val="34456D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302" y="1989734"/>
            <a:ext cx="382219" cy="38221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99032" y="1783080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Mode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22960" y="2743200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works on NLP?”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22960" y="3044952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 search finds matching faculty with scores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22960" y="3493008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“Tell me about Dr. X”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22960" y="3794760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detail lookup of one professor's full profile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22960" y="4242816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“Show me another”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22960" y="4544568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to the next unseen match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22960" y="4992624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project could I do?”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22960" y="5294376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projects grounded in matched faculty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309360" y="178308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F5F7FC"/>
          </a:solidFill>
          <a:ln/>
        </p:spPr>
      </p:sp>
      <p:sp>
        <p:nvSpPr>
          <p:cNvPr id="20" name="Shape 17"/>
          <p:cNvSpPr/>
          <p:nvPr/>
        </p:nvSpPr>
        <p:spPr>
          <a:xfrm>
            <a:off x="6309360" y="1783080"/>
            <a:ext cx="5349240" cy="777240"/>
          </a:xfrm>
          <a:prstGeom prst="roundRect">
            <a:avLst>
              <a:gd name="adj" fmla="val 14118"/>
            </a:avLst>
          </a:prstGeom>
          <a:solidFill>
            <a:srgbClr val="4A6FA5"/>
          </a:solidFill>
          <a:ln/>
        </p:spPr>
      </p:sp>
      <p:sp>
        <p:nvSpPr>
          <p:cNvPr id="21" name="Shape 18"/>
          <p:cNvSpPr/>
          <p:nvPr/>
        </p:nvSpPr>
        <p:spPr>
          <a:xfrm>
            <a:off x="6309360" y="2194560"/>
            <a:ext cx="5349240" cy="36576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22" name="Shape 19"/>
          <p:cNvSpPr/>
          <p:nvPr/>
        </p:nvSpPr>
        <p:spPr>
          <a:xfrm>
            <a:off x="6565392" y="1929384"/>
            <a:ext cx="502920" cy="502920"/>
          </a:xfrm>
          <a:prstGeom prst="ellipse">
            <a:avLst/>
          </a:prstGeom>
          <a:solidFill>
            <a:srgbClr val="5C81B5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5742" y="1989734"/>
            <a:ext cx="382219" cy="382219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205472" y="1783080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Professor Mode</a:t>
            </a:r>
            <a:endParaRPr lang="en-US" sz="1900" dirty="0"/>
          </a:p>
        </p:txBody>
      </p:sp>
      <p:sp>
        <p:nvSpPr>
          <p:cNvPr id="25" name="Text 21"/>
          <p:cNvSpPr/>
          <p:nvPr/>
        </p:nvSpPr>
        <p:spPr>
          <a:xfrm>
            <a:off x="6629400" y="2743200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trending in NLP?”</a:t>
            </a:r>
            <a:endParaRPr lang="en-US" sz="1350" dirty="0"/>
          </a:p>
        </p:txBody>
      </p:sp>
      <p:sp>
        <p:nvSpPr>
          <p:cNvPr id="26" name="Text 22"/>
          <p:cNvSpPr/>
          <p:nvPr/>
        </p:nvSpPr>
        <p:spPr>
          <a:xfrm>
            <a:off x="6629400" y="3044952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search for current research trends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6629400" y="3493008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works on this in our dept?”</a:t>
            </a:r>
            <a:endParaRPr lang="en-US" sz="1350" dirty="0"/>
          </a:p>
        </p:txBody>
      </p:sp>
      <p:sp>
        <p:nvSpPr>
          <p:cNvPr id="28" name="Text 24"/>
          <p:cNvSpPr/>
          <p:nvPr/>
        </p:nvSpPr>
        <p:spPr>
          <a:xfrm>
            <a:off x="6629400" y="3794760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landscape search across the department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6629400" y="4242816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“Could I collaborate with Dr. Y?”</a:t>
            </a:r>
            <a:endParaRPr lang="en-US" sz="1350" dirty="0"/>
          </a:p>
        </p:txBody>
      </p:sp>
      <p:sp>
        <p:nvSpPr>
          <p:cNvPr id="30" name="Text 26"/>
          <p:cNvSpPr/>
          <p:nvPr/>
        </p:nvSpPr>
        <p:spPr>
          <a:xfrm>
            <a:off x="6629400" y="4544568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Cross-matches complementary expertise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6629400" y="4992624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are we missing?”</a:t>
            </a:r>
            <a:endParaRPr lang="en-US" sz="1350" dirty="0"/>
          </a:p>
        </p:txBody>
      </p:sp>
      <p:sp>
        <p:nvSpPr>
          <p:cNvPr id="32" name="Text 28"/>
          <p:cNvSpPr/>
          <p:nvPr/>
        </p:nvSpPr>
        <p:spPr>
          <a:xfrm>
            <a:off x="6629400" y="5294376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analysis: trends vs. actual faculty coverage</a:t>
            </a:r>
            <a:endParaRPr lang="en-US" sz="1150" dirty="0"/>
          </a:p>
        </p:txBody>
      </p:sp>
      <p:sp>
        <p:nvSpPr>
          <p:cNvPr id="33" name="Text 29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19-node LangGraph, not a decision tree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passes through one router, then fans out to a specialist node. This is the actual graph topology in src/graph.py.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80760" y="2286000"/>
            <a:ext cx="9144" cy="1783080"/>
          </a:xfrm>
          <a:prstGeom prst="line">
            <a:avLst/>
          </a:prstGeom>
          <a:noFill/>
          <a:ln w="15875">
            <a:solidFill>
              <a:srgbClr val="3A4E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6080760" y="3177540"/>
            <a:ext cx="3563521" cy="891540"/>
          </a:xfrm>
          <a:prstGeom prst="line">
            <a:avLst/>
          </a:prstGeom>
          <a:noFill/>
          <a:ln w="15875">
            <a:solidFill>
              <a:srgbClr val="3A4E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80760" y="4069080"/>
            <a:ext cx="3563521" cy="891540"/>
          </a:xfrm>
          <a:prstGeom prst="line">
            <a:avLst/>
          </a:prstGeom>
          <a:noFill/>
          <a:ln w="15875">
            <a:solidFill>
              <a:srgbClr val="3A4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80760" y="4069080"/>
            <a:ext cx="9144" cy="1783080"/>
          </a:xfrm>
          <a:prstGeom prst="line">
            <a:avLst/>
          </a:prstGeom>
          <a:noFill/>
          <a:ln w="15875">
            <a:solidFill>
              <a:srgbClr val="3A4E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2517239" y="4069080"/>
            <a:ext cx="3563521" cy="891540"/>
          </a:xfrm>
          <a:prstGeom prst="line">
            <a:avLst/>
          </a:prstGeom>
          <a:noFill/>
          <a:ln w="15875">
            <a:solidFill>
              <a:srgbClr val="3A4E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7239" y="3177540"/>
            <a:ext cx="3563521" cy="891540"/>
          </a:xfrm>
          <a:prstGeom prst="line">
            <a:avLst/>
          </a:prstGeom>
          <a:noFill/>
          <a:ln w="15875">
            <a:solidFill>
              <a:srgbClr val="3A4E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94960" y="3383280"/>
            <a:ext cx="1371600" cy="1371600"/>
          </a:xfrm>
          <a:prstGeom prst="ellipse">
            <a:avLst/>
          </a:prstGeom>
          <a:solidFill>
            <a:srgbClr val="F2A541"/>
          </a:solidFill>
          <a:ln/>
          <a:effectLst>
            <a:outerShdw sx="100000" sy="100000" kx="0" ky="0" algn="bl" rotWithShape="0" blurRad="1016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94960" y="38130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394960" y="405079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intent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40580" y="1805940"/>
            <a:ext cx="2880360" cy="960120"/>
          </a:xfrm>
          <a:prstGeom prst="roundRect">
            <a:avLst>
              <a:gd name="adj" fmla="val 8571"/>
            </a:avLst>
          </a:prstGeom>
          <a:solidFill>
            <a:srgbClr val="24365C"/>
          </a:solidFill>
          <a:ln w="9525">
            <a:solidFill>
              <a:srgbClr val="3A4E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7740" y="187909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&amp; Search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77740" y="21717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F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RAG_RETRIEVER · LIST_NODE · TOPICS_NODE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204101" y="2697480"/>
            <a:ext cx="2880360" cy="960120"/>
          </a:xfrm>
          <a:prstGeom prst="roundRect">
            <a:avLst>
              <a:gd name="adj" fmla="val 8571"/>
            </a:avLst>
          </a:prstGeom>
          <a:solidFill>
            <a:srgbClr val="24365C"/>
          </a:solidFill>
          <a:ln w="9525">
            <a:solidFill>
              <a:srgbClr val="3A4E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41261" y="277063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&amp; Selection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341261" y="30632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F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DETAIL_RETRIEVER · SHOW_ALTERNATE · FACULTY_SELECTOR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204101" y="4480560"/>
            <a:ext cx="2880360" cy="960120"/>
          </a:xfrm>
          <a:prstGeom prst="roundRect">
            <a:avLst>
              <a:gd name="adj" fmla="val 8571"/>
            </a:avLst>
          </a:prstGeom>
          <a:solidFill>
            <a:srgbClr val="24365C"/>
          </a:solidFill>
          <a:ln w="9525">
            <a:solidFill>
              <a:srgbClr val="3A4E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41261" y="455371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(human-in-loop)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341261" y="48463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F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EMAIL_GENERATOR · EMAIL_APPROVAL · HUMAN_VALIDATOR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40580" y="5372100"/>
            <a:ext cx="2880360" cy="960120"/>
          </a:xfrm>
          <a:prstGeom prst="roundRect">
            <a:avLst>
              <a:gd name="adj" fmla="val 8571"/>
            </a:avLst>
          </a:prstGeom>
          <a:solidFill>
            <a:srgbClr val="24365C"/>
          </a:solidFill>
          <a:ln w="9525">
            <a:solidFill>
              <a:srgbClr val="3A4E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7740" y="544525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Intelligence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77740" y="57378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F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PAPER_SEARCHER · GAP_ANALYZER · COLLAB_MATCHER · WORKLOAD_CHECKER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077059" y="4480560"/>
            <a:ext cx="2880360" cy="960120"/>
          </a:xfrm>
          <a:prstGeom prst="roundRect">
            <a:avLst>
              <a:gd name="adj" fmla="val 8571"/>
            </a:avLst>
          </a:prstGeom>
          <a:solidFill>
            <a:srgbClr val="24365C"/>
          </a:solidFill>
          <a:ln w="9525">
            <a:solidFill>
              <a:srgbClr val="3A4E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14219" y="455371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Reporting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214219" y="48463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F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STATS_NODE · REPORTER · PROJECT_SUGGESTER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77059" y="2697480"/>
            <a:ext cx="2880360" cy="960120"/>
          </a:xfrm>
          <a:prstGeom prst="roundRect">
            <a:avLst>
              <a:gd name="adj" fmla="val 8571"/>
            </a:avLst>
          </a:prstGeom>
          <a:solidFill>
            <a:srgbClr val="24365C"/>
          </a:solidFill>
          <a:ln w="9525">
            <a:solidFill>
              <a:srgbClr val="3A4E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14219" y="277063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&amp; Mode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214219" y="30632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9FB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CHAT_NODE · MODE_SWITCHER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path: after an email draft, YES / EDIT / NO skips re-classification and goes straight to EMAIL_APPROVAL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hybrid scoring beats vector-only search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640080"/>
          </a:xfrm>
          <a:prstGeom prst="roundRect">
            <a:avLst>
              <a:gd name="adj" fmla="val 14286"/>
            </a:avLst>
          </a:prstGeom>
          <a:solidFill>
            <a:srgbClr val="EEF2F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173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 </a:t>
            </a:r>
            <a:pPr indent="0" marL="0">
              <a:buNone/>
            </a:pPr>
            <a:r>
              <a:rPr lang="en-US" sz="15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“reinforcement learning, multi-agent robotics”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5349240" cy="3566160"/>
          </a:xfrm>
          <a:prstGeom prst="roundRect">
            <a:avLst>
              <a:gd name="adj" fmla="val 3077"/>
            </a:avLst>
          </a:prstGeom>
          <a:solidFill>
            <a:srgbClr val="F5F7FC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587752"/>
            <a:ext cx="548640" cy="548640"/>
          </a:xfrm>
          <a:prstGeom prst="ellipse">
            <a:avLst/>
          </a:prstGeom>
          <a:solidFill>
            <a:srgbClr val="FBE4E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077" y="2653589"/>
            <a:ext cx="416966" cy="4169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60604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similarity alone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329184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Dr. Rohan Das (SLAM, robotics, autonomous navigation) near the top — his embedding sits close to “robotics” in vector space, even though he doesn't do reinforcement learning.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4297680"/>
            <a:ext cx="4709160" cy="1371600"/>
          </a:xfrm>
          <a:prstGeom prst="roundRect">
            <a:avLst>
              <a:gd name="adj" fmla="val 5333"/>
            </a:avLst>
          </a:prstGeom>
          <a:solidFill>
            <a:srgbClr val="FBF3F3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4297680"/>
            <a:ext cx="4343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2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Rohan Das ranked #1</a:t>
            </a:r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8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misses the precise ask — no exact match on “reinforcement learning” or “multi-agent”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309360" y="2331720"/>
            <a:ext cx="5349240" cy="3566160"/>
          </a:xfrm>
          <a:prstGeom prst="roundRect">
            <a:avLst>
              <a:gd name="adj" fmla="val 3077"/>
            </a:avLst>
          </a:prstGeom>
          <a:solidFill>
            <a:srgbClr val="F5F7FC"/>
          </a:solidFill>
          <a:ln/>
        </p:spPr>
      </p:sp>
      <p:sp>
        <p:nvSpPr>
          <p:cNvPr id="14" name="Shape 11"/>
          <p:cNvSpPr/>
          <p:nvPr/>
        </p:nvSpPr>
        <p:spPr>
          <a:xfrm>
            <a:off x="6583680" y="2587752"/>
            <a:ext cx="548640" cy="548640"/>
          </a:xfrm>
          <a:prstGeom prst="ellipse">
            <a:avLst/>
          </a:prstGeom>
          <a:solidFill>
            <a:srgbClr val="E5F3E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9517" y="2653589"/>
            <a:ext cx="416966" cy="41696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15200" y="260604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Hybrid: 60% vector + 40% keyword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629400" y="329184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Karthik Sundaram's keyword list contains exact hits — “reinforcement learning,” “multi-agent,” “robotics” — which pulls the keyword-overlap term sharply upward.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629400" y="4297680"/>
            <a:ext cx="4709160" cy="1371600"/>
          </a:xfrm>
          <a:prstGeom prst="roundRect">
            <a:avLst>
              <a:gd name="adj" fmla="val 5333"/>
            </a:avLst>
          </a:prstGeom>
          <a:solidFill>
            <a:srgbClr val="EFF7F1"/>
          </a:solidFill>
          <a:ln/>
        </p:spPr>
      </p:sp>
      <p:sp>
        <p:nvSpPr>
          <p:cNvPr id="19" name="Text 15"/>
          <p:cNvSpPr/>
          <p:nvPr/>
        </p:nvSpPr>
        <p:spPr>
          <a:xfrm>
            <a:off x="6812280" y="4297680"/>
            <a:ext cx="4343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C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Karthik Sundaram ranked #1</a:t>
            </a:r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3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matches the eval harness' expected top-1 for this query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02920" y="60350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0.6 × cosine_similarity  +  0.4 × keyword_overlap     (src/rag_retriever.py — ALPHA / BETA)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MODE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vague interest to a confirmed guide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F5F7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47672"/>
            <a:ext cx="685800" cy="685800"/>
          </a:xfrm>
          <a:prstGeom prst="ellipse">
            <a:avLst/>
          </a:prstGeom>
          <a:solidFill>
            <a:srgbClr val="EEF2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029968"/>
            <a:ext cx="521208" cy="5212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928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RAG Matching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645920" y="2295144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similarity + keyword overlap (60/40) surfaces faculty with a transparent match %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09360" y="169164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F5F7FC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1947672"/>
            <a:ext cx="685800" cy="685800"/>
          </a:xfrm>
          <a:prstGeom prst="ellipse">
            <a:avLst/>
          </a:prstGeom>
          <a:solidFill>
            <a:srgbClr val="EEF2F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6" y="2029968"/>
            <a:ext cx="521208" cy="5212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8928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 &amp; Alternates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452360" y="2295144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“Tell me about Dr. X” for a scoped profile; “show me another” cycles unseen results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384048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F5F7FC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096512"/>
            <a:ext cx="685800" cy="685800"/>
          </a:xfrm>
          <a:prstGeom prst="ellipse">
            <a:avLst/>
          </a:prstGeom>
          <a:solidFill>
            <a:srgbClr val="EEF2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4178808"/>
            <a:ext cx="521208" cy="5212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0416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Suggestions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645920" y="4443984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project ideas grounded in the matched faculty's actual research areas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09360" y="384048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F5F7FC"/>
          </a:solidFill>
          <a:ln/>
        </p:spPr>
      </p:sp>
      <p:sp>
        <p:nvSpPr>
          <p:cNvPr id="20" name="Shape 15"/>
          <p:cNvSpPr/>
          <p:nvPr/>
        </p:nvSpPr>
        <p:spPr>
          <a:xfrm>
            <a:off x="6583680" y="4096512"/>
            <a:ext cx="685800" cy="685800"/>
          </a:xfrm>
          <a:prstGeom prst="ellipse">
            <a:avLst/>
          </a:prstGeom>
          <a:solidFill>
            <a:srgbClr val="EEF2F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4178808"/>
            <a:ext cx="521208" cy="5212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40416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Email Draft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452360" y="4443984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an outreach email and always asks YES / EDIT / NO before anything is sent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MODE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 awareness, gaps, and collaboration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F5F7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47672"/>
            <a:ext cx="685800" cy="685800"/>
          </a:xfrm>
          <a:prstGeom prst="ellipse">
            <a:avLst/>
          </a:prstGeom>
          <a:solidFill>
            <a:srgbClr val="FBEBD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029968"/>
            <a:ext cx="521208" cy="5212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928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Trend Search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645920" y="2295144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web search (with Semantic Scholar fallback) surfaces current papers and citation counts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09360" y="169164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F5F7FC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1947672"/>
            <a:ext cx="685800" cy="685800"/>
          </a:xfrm>
          <a:prstGeom prst="ellipse">
            <a:avLst/>
          </a:prstGeom>
          <a:solidFill>
            <a:srgbClr val="FBEBD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6" y="2029968"/>
            <a:ext cx="521208" cy="5212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8928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Analysis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452360" y="2295144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trending sub-topics against actual faculty coverage to flag uncovered areas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384048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F5F7FC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096512"/>
            <a:ext cx="685800" cy="685800"/>
          </a:xfrm>
          <a:prstGeom prst="ellipse">
            <a:avLst/>
          </a:prstGeom>
          <a:solidFill>
            <a:srgbClr val="FBEBD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4178808"/>
            <a:ext cx="521208" cy="5212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0416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Collaboration Matching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645920" y="4443984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Cross-matches complementary faculty expertise and scores collaboration potential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09360" y="384048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F5F7FC"/>
          </a:solidFill>
          <a:ln/>
        </p:spPr>
      </p:sp>
      <p:sp>
        <p:nvSpPr>
          <p:cNvPr id="20" name="Shape 15"/>
          <p:cNvSpPr/>
          <p:nvPr/>
        </p:nvSpPr>
        <p:spPr>
          <a:xfrm>
            <a:off x="6583680" y="4096512"/>
            <a:ext cx="685800" cy="685800"/>
          </a:xfrm>
          <a:prstGeom prst="ellipse">
            <a:avLst/>
          </a:prstGeom>
          <a:solidFill>
            <a:srgbClr val="FBEBD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4178808"/>
            <a:ext cx="521208" cy="5212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40416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Workload Awareness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452360" y="4443984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“Dr. Rao already has 4 projects” — checks capacity before suggesting a partner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BE TESTED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Validated, not just vibes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1155680" cy="1234440"/>
          </a:xfrm>
          <a:prstGeom prst="roundRect">
            <a:avLst>
              <a:gd name="adj" fmla="val 7407"/>
            </a:avLst>
          </a:prstGeom>
          <a:solidFill>
            <a:srgbClr val="24365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56232"/>
            <a:ext cx="566928" cy="566928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551" y="1924263"/>
            <a:ext cx="430865" cy="4308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0136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eval harness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08760" y="211226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eval/run_eval.py scores 15 curated queries for Top-1 accuracy and Top-3 recall against expected faculty matches.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1508760" y="2560320"/>
            <a:ext cx="9692640" cy="292608"/>
          </a:xfrm>
          <a:prstGeom prst="roundRect">
            <a:avLst>
              <a:gd name="adj" fmla="val 18750"/>
            </a:avLst>
          </a:prstGeom>
          <a:solidFill>
            <a:srgbClr val="1B2A4A"/>
          </a:solidFill>
          <a:ln w="9525">
            <a:solidFill>
              <a:srgbClr val="F2A54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00200" y="2560320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LIVE: python eval/run_eval.py — [paste your Top-1 / Top-3 result here]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02920" y="310896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24365C"/>
          </a:solidFill>
          <a:ln/>
        </p:spPr>
      </p:sp>
      <p:sp>
        <p:nvSpPr>
          <p:cNvPr id="12" name="Shape 9"/>
          <p:cNvSpPr/>
          <p:nvPr/>
        </p:nvSpPr>
        <p:spPr>
          <a:xfrm>
            <a:off x="731520" y="3273552"/>
            <a:ext cx="566928" cy="566928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51" y="3341583"/>
            <a:ext cx="430865" cy="43086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08760" y="321868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Ambiguous names resolved, not guessed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508760" y="352958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“Tell me about Dr. Sharma” with multiple Sharmas on faculty triggers a clarifying “which one?” instead of a silent wrong pick.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02920" y="420624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24365C"/>
          </a:solidFill>
          <a:ln/>
        </p:spPr>
      </p:sp>
      <p:sp>
        <p:nvSpPr>
          <p:cNvPr id="17" name="Shape 13"/>
          <p:cNvSpPr/>
          <p:nvPr/>
        </p:nvSpPr>
        <p:spPr>
          <a:xfrm>
            <a:off x="731520" y="4370832"/>
            <a:ext cx="566928" cy="566928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551" y="4438863"/>
            <a:ext cx="430865" cy="43086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431596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classifier with a regex safety net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508760" y="462686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routing uses gpt-4.1-mini when a key is present, and falls back to a deterministic regex classifier if it isn't — never a hard failure.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02920" y="530352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24365C"/>
          </a:solidFill>
          <a:ln/>
        </p:spPr>
      </p:sp>
      <p:sp>
        <p:nvSpPr>
          <p:cNvPr id="22" name="Shape 17"/>
          <p:cNvSpPr/>
          <p:nvPr/>
        </p:nvSpPr>
        <p:spPr>
          <a:xfrm>
            <a:off x="731520" y="5468112"/>
            <a:ext cx="566928" cy="566928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51" y="5536143"/>
            <a:ext cx="430865" cy="43086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508760" y="541324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Graceful unknowns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1508760" y="572414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that don't match any intent land in CHAT_NODE with a contextual suggestion, not an error message.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COVERAGE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must-have, delivered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65760" cy="365760"/>
          </a:xfrm>
          <a:prstGeom prst="ellipse">
            <a:avLst/>
          </a:prstGeom>
          <a:solidFill>
            <a:srgbClr val="E5F3E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811" y="1735531"/>
            <a:ext cx="277978" cy="2779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64592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faculty profiles loaded into ChromaDB (spec asked for 10+)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2253996"/>
            <a:ext cx="365760" cy="365760"/>
          </a:xfrm>
          <a:prstGeom prst="ellipse">
            <a:avLst/>
          </a:prstGeom>
          <a:solidFill>
            <a:srgbClr val="E5F3E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11" y="2297887"/>
            <a:ext cx="277978" cy="27797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2208276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works on X” → hybrid RAG retrieval with match scores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02920" y="2816352"/>
            <a:ext cx="365760" cy="365760"/>
          </a:xfrm>
          <a:prstGeom prst="ellipse">
            <a:avLst/>
          </a:prstGeom>
          <a:solidFill>
            <a:srgbClr val="E5F3EA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1" y="2860243"/>
            <a:ext cx="277978" cy="27797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277063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“Tell me about Dr. X” → scoped detail lookup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502920" y="3378708"/>
            <a:ext cx="365760" cy="365760"/>
          </a:xfrm>
          <a:prstGeom prst="ellipse">
            <a:avLst/>
          </a:prstGeom>
          <a:solidFill>
            <a:srgbClr val="E5F3EA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11" y="3422599"/>
            <a:ext cx="277978" cy="27797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333298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search (Tavily) for current research trends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502920" y="3941064"/>
            <a:ext cx="365760" cy="365760"/>
          </a:xfrm>
          <a:prstGeom prst="ellipse">
            <a:avLst/>
          </a:prstGeom>
          <a:solidFill>
            <a:srgbClr val="E5F3EA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811" y="3984955"/>
            <a:ext cx="277978" cy="27797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05840" y="3895344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matching — suggests which faculty could team up</a:t>
            </a:r>
            <a:endParaRPr lang="en-US" sz="1500" dirty="0"/>
          </a:p>
        </p:txBody>
      </p:sp>
      <p:sp>
        <p:nvSpPr>
          <p:cNvPr id="19" name="Shape 12"/>
          <p:cNvSpPr/>
          <p:nvPr/>
        </p:nvSpPr>
        <p:spPr>
          <a:xfrm>
            <a:off x="502920" y="4503420"/>
            <a:ext cx="365760" cy="365760"/>
          </a:xfrm>
          <a:prstGeom prst="ellipse">
            <a:avLst/>
          </a:prstGeom>
          <a:solidFill>
            <a:srgbClr val="E5F3EA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811" y="4547311"/>
            <a:ext cx="277978" cy="27797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005840" y="445770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confirmation before any email is sent</a:t>
            </a:r>
            <a:endParaRPr lang="en-US" sz="1500" dirty="0"/>
          </a:p>
        </p:txBody>
      </p:sp>
      <p:sp>
        <p:nvSpPr>
          <p:cNvPr id="22" name="Shape 14"/>
          <p:cNvSpPr/>
          <p:nvPr/>
        </p:nvSpPr>
        <p:spPr>
          <a:xfrm>
            <a:off x="502920" y="5065776"/>
            <a:ext cx="365760" cy="365760"/>
          </a:xfrm>
          <a:prstGeom prst="ellipse">
            <a:avLst/>
          </a:prstGeom>
          <a:solidFill>
            <a:srgbClr val="E5F3EA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811" y="5109667"/>
            <a:ext cx="277978" cy="27797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005840" y="5020056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fully in the terminal — no UI required</a:t>
            </a:r>
            <a:endParaRPr lang="en-US" sz="1500" dirty="0"/>
          </a:p>
        </p:txBody>
      </p:sp>
      <p:sp>
        <p:nvSpPr>
          <p:cNvPr id="25" name="Shape 16"/>
          <p:cNvSpPr/>
          <p:nvPr/>
        </p:nvSpPr>
        <p:spPr>
          <a:xfrm>
            <a:off x="502920" y="5870448"/>
            <a:ext cx="11155680" cy="621792"/>
          </a:xfrm>
          <a:prstGeom prst="roundRect">
            <a:avLst>
              <a:gd name="adj" fmla="val 14706"/>
            </a:avLst>
          </a:prstGeom>
          <a:solidFill>
            <a:srgbClr val="EEF2FA"/>
          </a:solidFill>
          <a:ln/>
        </p:spPr>
      </p:sp>
      <p:sp>
        <p:nvSpPr>
          <p:cNvPr id="26" name="Text 17"/>
          <p:cNvSpPr/>
          <p:nvPr/>
        </p:nvSpPr>
        <p:spPr>
          <a:xfrm>
            <a:off x="731520" y="5870448"/>
            <a:ext cx="10698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Bonus, also delivered:  </a:t>
            </a:r>
            <a:pPr indent="0" marL="0">
              <a:buNone/>
            </a:pPr>
            <a:r>
              <a:rPr lang="en-US" sz="1200" dirty="0">
                <a:solidFill>
                  <a:srgbClr val="334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mode as a full separate flow · Gap analysis · Project suggestion engine · Workload capacity checks · Eval harness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terminal conversations: approve vs. decline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12203D"/>
          </a:solidFill>
          <a:ln/>
          <a:effectLst>
            <a:outerShdw sx="100000" sy="100000" kx="0" ky="0" algn="bl" rotWithShape="0" blurRad="152400" dist="38100" dir="54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74520"/>
            <a:ext cx="118872" cy="118872"/>
          </a:xfrm>
          <a:prstGeom prst="ellipse">
            <a:avLst/>
          </a:prstGeom>
          <a:solidFill>
            <a:srgbClr val="E5645A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874520"/>
            <a:ext cx="118872" cy="118872"/>
          </a:xfrm>
          <a:prstGeom prst="ellipse">
            <a:avLst/>
          </a:prstGeom>
          <a:solidFill>
            <a:srgbClr val="F2B542"/>
          </a:solidFill>
          <a:ln/>
        </p:spPr>
      </p:sp>
      <p:sp>
        <p:nvSpPr>
          <p:cNvPr id="7" name="Shape 5"/>
          <p:cNvSpPr/>
          <p:nvPr/>
        </p:nvSpPr>
        <p:spPr>
          <a:xfrm>
            <a:off x="1207008" y="1874520"/>
            <a:ext cx="118872" cy="118872"/>
          </a:xfrm>
          <a:prstGeom prst="ellipse">
            <a:avLst/>
          </a:prstGeom>
          <a:solidFill>
            <a:srgbClr val="3EC04C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792224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8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academimatch — approve path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2194560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$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8E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want to email Dr. Sharma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578608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↳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8E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Here's the draft...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2962656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↳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8E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YES to send, EDIT or NO to cancel.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3529584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$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8E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3913632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↳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8E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Email sent! [SIMULATED]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09360" y="169164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12203D"/>
          </a:solidFill>
          <a:ln/>
          <a:effectLst>
            <a:outerShdw sx="100000" sy="100000" kx="0" ky="0" algn="bl" rotWithShape="0" blurRad="152400" dist="38100" dir="540000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37960" y="1874520"/>
            <a:ext cx="118872" cy="118872"/>
          </a:xfrm>
          <a:prstGeom prst="ellipse">
            <a:avLst/>
          </a:prstGeom>
          <a:solidFill>
            <a:srgbClr val="E5645A"/>
          </a:solidFill>
          <a:ln/>
        </p:spPr>
      </p:sp>
      <p:sp>
        <p:nvSpPr>
          <p:cNvPr id="16" name="Shape 14"/>
          <p:cNvSpPr/>
          <p:nvPr/>
        </p:nvSpPr>
        <p:spPr>
          <a:xfrm>
            <a:off x="6775704" y="1874520"/>
            <a:ext cx="118872" cy="118872"/>
          </a:xfrm>
          <a:prstGeom prst="ellipse">
            <a:avLst/>
          </a:prstGeom>
          <a:solidFill>
            <a:srgbClr val="F2B542"/>
          </a:solidFill>
          <a:ln/>
        </p:spPr>
      </p:sp>
      <p:sp>
        <p:nvSpPr>
          <p:cNvPr id="17" name="Shape 15"/>
          <p:cNvSpPr/>
          <p:nvPr/>
        </p:nvSpPr>
        <p:spPr>
          <a:xfrm>
            <a:off x="7013448" y="1874520"/>
            <a:ext cx="118872" cy="118872"/>
          </a:xfrm>
          <a:prstGeom prst="ellipse">
            <a:avLst/>
          </a:prstGeom>
          <a:solidFill>
            <a:srgbClr val="3EC04C"/>
          </a:solidFill>
          <a:ln/>
        </p:spPr>
      </p:sp>
      <p:sp>
        <p:nvSpPr>
          <p:cNvPr id="18" name="Text 16"/>
          <p:cNvSpPr/>
          <p:nvPr/>
        </p:nvSpPr>
        <p:spPr>
          <a:xfrm>
            <a:off x="7269480" y="1792224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8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academimatch — decline path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583680" y="2194560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$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8E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want to email Dr. Sharma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83680" y="2578608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↳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8E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Here's the draft...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83680" y="2962656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↳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8E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YES to send, EDIT or NO to cancel.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83680" y="3529584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6FD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$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8E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83680" y="3913632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↳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8E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Cancelled — nothing was sent.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Inspired by the tools in the brief — built for our department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11155680" cy="1234440"/>
          </a:xfrm>
          <a:prstGeom prst="roundRect">
            <a:avLst>
              <a:gd name="adj" fmla="val 7407"/>
            </a:avLst>
          </a:prstGeom>
          <a:solidFill>
            <a:srgbClr val="F5F7F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93392"/>
            <a:ext cx="713232" cy="713232"/>
          </a:xfrm>
          <a:prstGeom prst="ellipse">
            <a:avLst/>
          </a:prstGeom>
          <a:solidFill>
            <a:srgbClr val="EEF2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108" y="2078980"/>
            <a:ext cx="542056" cy="542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65376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Elicit / Semantic Scholar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892040" y="1883664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answers and metadata from papers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092440" y="1883664"/>
            <a:ext cx="3337560" cy="941832"/>
          </a:xfrm>
          <a:prstGeom prst="roundRect">
            <a:avLst>
              <a:gd name="adj" fmla="val 7767"/>
            </a:avLst>
          </a:prstGeom>
          <a:solidFill>
            <a:srgbClr val="EFF7F1"/>
          </a:solidFill>
          <a:ln/>
        </p:spPr>
      </p:sp>
      <p:sp>
        <p:nvSpPr>
          <p:cNvPr id="10" name="Text 7"/>
          <p:cNvSpPr/>
          <p:nvPr/>
        </p:nvSpPr>
        <p:spPr>
          <a:xfrm>
            <a:off x="8275320" y="1883664"/>
            <a:ext cx="301752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C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add: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those trends in our own 15 faculty, not just the literature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" y="3154680"/>
            <a:ext cx="11155680" cy="1234440"/>
          </a:xfrm>
          <a:prstGeom prst="roundRect">
            <a:avLst>
              <a:gd name="adj" fmla="val 7407"/>
            </a:avLst>
          </a:prstGeom>
          <a:solidFill>
            <a:srgbClr val="F5F7FC"/>
          </a:solidFill>
          <a:ln/>
        </p:spPr>
      </p:sp>
      <p:sp>
        <p:nvSpPr>
          <p:cNvPr id="12" name="Shape 9"/>
          <p:cNvSpPr/>
          <p:nvPr/>
        </p:nvSpPr>
        <p:spPr>
          <a:xfrm>
            <a:off x="731520" y="3410712"/>
            <a:ext cx="713232" cy="713232"/>
          </a:xfrm>
          <a:prstGeom prst="ellipse">
            <a:avLst/>
          </a:prstGeom>
          <a:solidFill>
            <a:srgbClr val="EEF2F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108" y="3496300"/>
            <a:ext cx="542056" cy="5420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45920" y="3282696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Connected Papers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892040" y="3300984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how papers cite each other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92440" y="3300984"/>
            <a:ext cx="3337560" cy="941832"/>
          </a:xfrm>
          <a:prstGeom prst="roundRect">
            <a:avLst>
              <a:gd name="adj" fmla="val 7767"/>
            </a:avLst>
          </a:prstGeom>
          <a:solidFill>
            <a:srgbClr val="EFF7F1"/>
          </a:solidFill>
          <a:ln/>
        </p:spPr>
      </p:sp>
      <p:sp>
        <p:nvSpPr>
          <p:cNvPr id="17" name="Text 13"/>
          <p:cNvSpPr/>
          <p:nvPr/>
        </p:nvSpPr>
        <p:spPr>
          <a:xfrm>
            <a:off x="8275320" y="3300984"/>
            <a:ext cx="301752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C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add: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the people network — collaboration matches &amp; coverage gaps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02920" y="4572000"/>
            <a:ext cx="11155680" cy="1234440"/>
          </a:xfrm>
          <a:prstGeom prst="roundRect">
            <a:avLst>
              <a:gd name="adj" fmla="val 7407"/>
            </a:avLst>
          </a:prstGeom>
          <a:solidFill>
            <a:srgbClr val="F5F7FC"/>
          </a:solidFill>
          <a:ln/>
        </p:spPr>
      </p:sp>
      <p:sp>
        <p:nvSpPr>
          <p:cNvPr id="19" name="Shape 15"/>
          <p:cNvSpPr/>
          <p:nvPr/>
        </p:nvSpPr>
        <p:spPr>
          <a:xfrm>
            <a:off x="731520" y="4828032"/>
            <a:ext cx="713232" cy="713232"/>
          </a:xfrm>
          <a:prstGeom prst="ellipse">
            <a:avLst/>
          </a:prstGeom>
          <a:solidFill>
            <a:srgbClr val="EEF2FA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108" y="4913620"/>
            <a:ext cx="542056" cy="5420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45920" y="4700016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Rabbit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4892040" y="4718304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related papers to explore next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092440" y="4718304"/>
            <a:ext cx="3337560" cy="941832"/>
          </a:xfrm>
          <a:prstGeom prst="roundRect">
            <a:avLst>
              <a:gd name="adj" fmla="val 7767"/>
            </a:avLst>
          </a:prstGeom>
          <a:solidFill>
            <a:srgbClr val="EFF7F1"/>
          </a:solidFill>
          <a:ln/>
        </p:spPr>
      </p:sp>
      <p:sp>
        <p:nvSpPr>
          <p:cNvPr id="24" name="Text 19"/>
          <p:cNvSpPr/>
          <p:nvPr/>
        </p:nvSpPr>
        <p:spPr>
          <a:xfrm>
            <a:off x="8275320" y="4718304"/>
            <a:ext cx="301752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C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add: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E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a next action — a project idea, an email draft, a workload check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citation graph itself stays on the moonshot roadmap — a deliberate scoping choice, not an oversight.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24365C"/>
          </a:solidFill>
          <a:ln/>
        </p:spPr>
      </p:sp>
      <p:sp>
        <p:nvSpPr>
          <p:cNvPr id="5" name="Shape 3"/>
          <p:cNvSpPr/>
          <p:nvPr/>
        </p:nvSpPr>
        <p:spPr>
          <a:xfrm>
            <a:off x="758952" y="1920240"/>
            <a:ext cx="566928" cy="566928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983" y="1988271"/>
            <a:ext cx="430865" cy="4308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06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289864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State-machine orchestration across 19 specialist nodes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24365C"/>
          </a:solidFill>
          <a:ln/>
        </p:spPr>
      </p:sp>
      <p:sp>
        <p:nvSpPr>
          <p:cNvPr id="10" name="Shape 7"/>
          <p:cNvSpPr/>
          <p:nvPr/>
        </p:nvSpPr>
        <p:spPr>
          <a:xfrm>
            <a:off x="4553712" y="1920240"/>
            <a:ext cx="566928" cy="566928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743" y="1988271"/>
            <a:ext cx="430865" cy="4308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606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 + OpenAI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2000" y="289864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gpt-4.1-mini for intent classification, with regex fallback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92440" y="169164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24365C"/>
          </a:solidFill>
          <a:ln/>
        </p:spPr>
      </p:sp>
      <p:sp>
        <p:nvSpPr>
          <p:cNvPr id="15" name="Shape 11"/>
          <p:cNvSpPr/>
          <p:nvPr/>
        </p:nvSpPr>
        <p:spPr>
          <a:xfrm>
            <a:off x="8348472" y="1920240"/>
            <a:ext cx="566928" cy="566928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6503" y="1988271"/>
            <a:ext cx="430865" cy="4308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2606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ChromaDB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66760" y="289864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of faculty profiles for semantic retrieval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02920" y="370332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24365C"/>
          </a:solidFill>
          <a:ln/>
        </p:spPr>
      </p:sp>
      <p:sp>
        <p:nvSpPr>
          <p:cNvPr id="20" name="Shape 15"/>
          <p:cNvSpPr/>
          <p:nvPr/>
        </p:nvSpPr>
        <p:spPr>
          <a:xfrm>
            <a:off x="758952" y="3931920"/>
            <a:ext cx="566928" cy="566928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983" y="3999951"/>
            <a:ext cx="430865" cy="4308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617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Sentence-Transformers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77240" y="491032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powering the vector half of hybrid search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97680" y="370332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24365C"/>
          </a:solidFill>
          <a:ln/>
        </p:spPr>
      </p:sp>
      <p:sp>
        <p:nvSpPr>
          <p:cNvPr id="25" name="Shape 19"/>
          <p:cNvSpPr/>
          <p:nvPr/>
        </p:nvSpPr>
        <p:spPr>
          <a:xfrm>
            <a:off x="4553712" y="3931920"/>
            <a:ext cx="566928" cy="566928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1743" y="3999951"/>
            <a:ext cx="430865" cy="43086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4617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Tavily API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2000" y="491032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search for current research trends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92440" y="370332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24365C"/>
          </a:solidFill>
          <a:ln/>
        </p:spPr>
      </p:sp>
      <p:sp>
        <p:nvSpPr>
          <p:cNvPr id="30" name="Shape 23"/>
          <p:cNvSpPr/>
          <p:nvPr/>
        </p:nvSpPr>
        <p:spPr>
          <a:xfrm>
            <a:off x="8348472" y="3931920"/>
            <a:ext cx="566928" cy="566928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6503" y="3999951"/>
            <a:ext cx="430865" cy="43086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66760" y="4617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Scholar API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66760" y="491032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source for papers, abstracts, citation counts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4A6FA5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Delivered today, roadmap ahead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5349240" cy="4114800"/>
          </a:xfrm>
          <a:prstGeom prst="roundRect">
            <a:avLst>
              <a:gd name="adj" fmla="val 2667"/>
            </a:avLst>
          </a:prstGeom>
          <a:solidFill>
            <a:srgbClr val="24365C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90" y="2072030"/>
            <a:ext cx="382219" cy="38221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99339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Delivered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2743200"/>
            <a:ext cx="4709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D6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Must-Have + several Nice-to-Have features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D6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 &amp; project suggestion engine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D6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Workload-aware collaboration matching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D6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Human-approved email drafting flow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D6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retrieval eval harness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09360" y="1737360"/>
            <a:ext cx="5349240" cy="4114800"/>
          </a:xfrm>
          <a:prstGeom prst="roundRect">
            <a:avLst>
              <a:gd name="adj" fmla="val 2667"/>
            </a:avLst>
          </a:prstGeom>
          <a:solidFill>
            <a:srgbClr val="24365C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0" y="201168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030" y="2072030"/>
            <a:ext cx="382219" cy="38221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0" y="199339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Moonshot Roadmap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629400" y="2743200"/>
            <a:ext cx="4709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6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graph visualization on a topic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6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adaptation: simpler for students, deeper for faculty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6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faculty data scraped from the college website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6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/ Gradio UI on top of the terminal agent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16586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AcademiMatch - Research Matching Chatbot</dc:title>
  <dc:subject>PptxGenJS Presentation</dc:subject>
  <dc:creator>AcademiMatch</dc:creator>
  <cp:lastModifiedBy>AcademiMatch</cp:lastModifiedBy>
  <cp:revision>1</cp:revision>
  <dcterms:created xsi:type="dcterms:W3CDTF">2026-07-04T23:48:27Z</dcterms:created>
  <dcterms:modified xsi:type="dcterms:W3CDTF">2026-07-04T23:48:27Z</dcterms:modified>
</cp:coreProperties>
</file>